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65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Multi-Label Packaging Defect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C5CF"/>
                </a:solidFill>
              </a:rPr>
              <a:t>Midterm project - Industrial Computer Vision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>
                <a:solidFill>
                  <a:srgbClr val="F5F7FA"/>
                </a:solidFill>
              </a:defRPr>
            </a:pPr>
            <a:r>
              <a:t>Goal: inspect different consumer-package fronts and decide PASS or FAIL automatically.</a:t>
            </a:r>
          </a:p>
          <a:p>
            <a:pPr>
              <a:defRPr sz="1800">
                <a:solidFill>
                  <a:srgbClr val="F5F7FA"/>
                </a:solidFill>
              </a:defRPr>
            </a:pPr>
            <a:r>
              <a:t>Dataset: 5 real package labels collected from Open Food Facts product-front images.</a:t>
            </a:r>
          </a:p>
          <a:p>
            <a:pPr>
              <a:defRPr sz="1800">
                <a:solidFill>
                  <a:srgbClr val="F5F7FA"/>
                </a:solidFill>
              </a:defRPr>
            </a:pPr>
            <a:r>
              <a:t>Course concepts used: SIFT matching, image alignment, thresholding, morphology, connected components.</a:t>
            </a:r>
          </a:p>
        </p:txBody>
      </p:sp>
      <p:pic>
        <p:nvPicPr>
          <p:cNvPr id="5" name="Picture 4" descr="weetabix__fail_primary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25880"/>
            <a:ext cx="5806440" cy="42168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630936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FC5CF"/>
                </a:solidFill>
              </a:rPr>
              <a:t>Representative FAIL case with aligned comparison, defect mask, and final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Realistic Example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C5CF"/>
                </a:solidFill>
              </a:rPr>
              <a:t>Five different product labels and four test images per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5257800"/>
          </a:xfrm>
          <a:prstGeom prst="roundRect">
            <a:avLst/>
          </a:prstGeom>
          <a:solidFill>
            <a:srgbClr val="242A36"/>
          </a:solidFill>
          <a:ln>
            <a:solidFill>
              <a:srgbClr val="24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eference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1458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257800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>
                <a:solidFill>
                  <a:srgbClr val="F5F7FA"/>
                </a:solidFill>
              </a:defRPr>
            </a:pPr>
            <a:r>
              <a:t>Labels used: cookies, cereal, chips, tea, and chocolate. Each label has 2 PASS samples and 2 FAIL samples with different defects.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9963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FC5CF"/>
                </a:solidFill>
              </a:rPr>
              <a:t>Source images: Open Food Facts package-front photos, then transformed into inspection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Inspection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C5CF"/>
                </a:solidFill>
              </a:rPr>
              <a:t>Reference-specific alignment first, defect localization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627632" cy="1024128"/>
          </a:xfrm>
          <a:prstGeom prst="roundRect">
            <a:avLst/>
          </a:prstGeom>
          <a:solidFill>
            <a:srgbClr val="242A36"/>
          </a:solidFill>
          <a:ln>
            <a:solidFill>
              <a:srgbClr val="56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527048"/>
            <a:ext cx="148132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8800"/>
                </a:solidFill>
              </a:rPr>
              <a:t>1</a:t>
            </a:r>
          </a:p>
          <a:p>
            <a:pPr algn="ctr"/>
            <a:r>
              <a:rPr sz="1200">
                <a:solidFill>
                  <a:srgbClr val="F5F7FA"/>
                </a:solidFill>
              </a:rPr>
              <a:t>Choose matching
reference label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417320"/>
            <a:ext cx="1627632" cy="1024128"/>
          </a:xfrm>
          <a:prstGeom prst="roundRect">
            <a:avLst/>
          </a:prstGeom>
          <a:solidFill>
            <a:srgbClr val="242A36"/>
          </a:solidFill>
          <a:ln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32304" y="1527048"/>
            <a:ext cx="148132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8800"/>
                </a:solidFill>
              </a:rPr>
              <a:t>2</a:t>
            </a:r>
          </a:p>
          <a:p>
            <a:pPr algn="ctr"/>
            <a:r>
              <a:rPr sz="1200">
                <a:solidFill>
                  <a:srgbClr val="F5F7FA"/>
                </a:solidFill>
              </a:rPr>
              <a:t>SIFT keypoints
and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1417320"/>
            <a:ext cx="1627632" cy="1024128"/>
          </a:xfrm>
          <a:prstGeom prst="roundRect">
            <a:avLst/>
          </a:prstGeom>
          <a:solidFill>
            <a:srgbClr val="242A36"/>
          </a:solidFill>
          <a:ln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34256" y="1527048"/>
            <a:ext cx="148132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8800"/>
                </a:solidFill>
              </a:rPr>
              <a:t>3</a:t>
            </a:r>
          </a:p>
          <a:p>
            <a:pPr algn="ctr"/>
            <a:r>
              <a:rPr sz="1200">
                <a:solidFill>
                  <a:srgbClr val="F5F7FA"/>
                </a:solidFill>
              </a:rPr>
              <a:t>Homography
alignment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417320"/>
            <a:ext cx="1627632" cy="1024128"/>
          </a:xfrm>
          <a:prstGeom prst="roundRect">
            <a:avLst/>
          </a:prstGeom>
          <a:solidFill>
            <a:srgbClr val="242A36"/>
          </a:solidFill>
          <a:ln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1527048"/>
            <a:ext cx="148132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8800"/>
                </a:solidFill>
              </a:rPr>
              <a:t>4</a:t>
            </a:r>
          </a:p>
          <a:p>
            <a:pPr algn="ctr"/>
            <a:r>
              <a:rPr sz="1200">
                <a:solidFill>
                  <a:srgbClr val="F5F7FA"/>
                </a:solidFill>
              </a:rPr>
              <a:t>Absdiff +
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17320"/>
            <a:ext cx="1627632" cy="1024128"/>
          </a:xfrm>
          <a:prstGeom prst="roundRect">
            <a:avLst/>
          </a:prstGeom>
          <a:solidFill>
            <a:srgbClr val="242A36"/>
          </a:solidFill>
          <a:ln>
            <a:solidFill>
              <a:srgbClr val="56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527048"/>
            <a:ext cx="148132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8800"/>
                </a:solidFill>
              </a:rPr>
              <a:t>5</a:t>
            </a:r>
          </a:p>
          <a:p>
            <a:pPr algn="ctr"/>
            <a:r>
              <a:rPr sz="1200">
                <a:solidFill>
                  <a:srgbClr val="F5F7FA"/>
                </a:solidFill>
              </a:rPr>
              <a:t>Morphology +
connected regions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1417320"/>
            <a:ext cx="1627632" cy="1024128"/>
          </a:xfrm>
          <a:prstGeom prst="roundRect">
            <a:avLst/>
          </a:prstGeom>
          <a:solidFill>
            <a:srgbClr val="242A36"/>
          </a:solidFill>
          <a:ln>
            <a:solidFill>
              <a:srgbClr val="56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40112" y="1527048"/>
            <a:ext cx="148132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8800"/>
                </a:solidFill>
              </a:rPr>
              <a:t>6</a:t>
            </a:r>
          </a:p>
          <a:p>
            <a:pPr algn="ctr"/>
            <a:r>
              <a:rPr sz="1200">
                <a:solidFill>
                  <a:srgbClr val="F5F7FA"/>
                </a:solidFill>
              </a:rPr>
              <a:t>PASS / FAIL</a:t>
            </a:r>
          </a:p>
        </p:txBody>
      </p:sp>
      <p:pic>
        <p:nvPicPr>
          <p:cNvPr id="16" name="Picture 15" descr="pringles_original__fail_primary_m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80360"/>
            <a:ext cx="4800600" cy="33822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60" y="2926080"/>
            <a:ext cx="48463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>
                <a:solidFill>
                  <a:srgbClr val="F5F7FA"/>
                </a:solidFill>
              </a:defRPr>
            </a:pPr>
            <a:r>
              <a:t>A separate reference is used for each label category.</a:t>
            </a:r>
          </a:p>
          <a:p>
            <a:pPr>
              <a:defRPr sz="1800">
                <a:solidFill>
                  <a:srgbClr val="F5F7FA"/>
                </a:solidFill>
              </a:defRPr>
            </a:pPr>
            <a:r>
              <a:t>Alignment handles rotation, translation, and scale before comparison.</a:t>
            </a:r>
          </a:p>
          <a:p>
            <a:pPr>
              <a:defRPr sz="1800">
                <a:solidFill>
                  <a:srgbClr val="F5F7FA"/>
                </a:solidFill>
              </a:defRPr>
            </a:pPr>
            <a:r>
              <a:t>Large connected residual regions are interpreted as label defects.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989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FC5CF"/>
                </a:solidFill>
              </a:rPr>
              <a:t>Example SIFT matches for Pringles Original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Representative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C5CF"/>
                </a:solidFill>
              </a:rPr>
              <a:t>One PASS case and two FAIL cases from different labels</a:t>
            </a:r>
          </a:p>
        </p:txBody>
      </p:sp>
      <p:pic>
        <p:nvPicPr>
          <p:cNvPr id="4" name="Picture 3" descr="king_cookies__ok_pose_a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3794760" cy="2755864"/>
          </a:xfrm>
          <a:prstGeom prst="rect">
            <a:avLst/>
          </a:prstGeom>
        </p:spPr>
      </p:pic>
      <p:pic>
        <p:nvPicPr>
          <p:cNvPr id="5" name="Picture 4" descr="pringles_original__fail_primary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25880"/>
            <a:ext cx="3794760" cy="2755864"/>
          </a:xfrm>
          <a:prstGeom prst="rect">
            <a:avLst/>
          </a:prstGeom>
        </p:spPr>
      </p:pic>
      <p:pic>
        <p:nvPicPr>
          <p:cNvPr id="6" name="Picture 5" descr="weetabix__fail_primary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794760" cy="2755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48C9B0"/>
                </a:solidFill>
              </a:rPr>
              <a:t>PASS: KING Cookies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61722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74C3C"/>
                </a:solidFill>
              </a:rPr>
              <a:t>FAIL: Pringles Original (missing_print)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61722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E74C3C"/>
                </a:solidFill>
              </a:rPr>
              <a:t>FAIL: Weetabix (scratch)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FC5CF"/>
                </a:solidFill>
              </a:rPr>
              <a:t>The same pipeline separates normal and defective samples across five labels</a:t>
            </a:r>
          </a:p>
        </p:txBody>
      </p:sp>
      <p:pic>
        <p:nvPicPr>
          <p:cNvPr id="4" name="Picture 3" descr="demo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766560" cy="448735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508760"/>
            <a:ext cx="1463040" cy="914400"/>
          </a:xfrm>
          <a:prstGeom prst="roundRect">
            <a:avLst/>
          </a:prstGeom>
          <a:solidFill>
            <a:srgbClr val="242A36"/>
          </a:solidFill>
          <a:ln>
            <a:solidFill>
              <a:srgbClr val="56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6002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69FFF"/>
                </a:solidFill>
              </a:rPr>
              <a:t>5</a:t>
            </a:r>
          </a:p>
          <a:p>
            <a:pPr algn="ctr"/>
            <a:r>
              <a:rPr sz="1200">
                <a:solidFill>
                  <a:srgbClr val="BFC5CF"/>
                </a:solidFill>
              </a:rPr>
              <a:t>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508760"/>
            <a:ext cx="1463040" cy="914400"/>
          </a:xfrm>
          <a:prstGeom prst="roundRect">
            <a:avLst/>
          </a:prstGeom>
          <a:solidFill>
            <a:srgbClr val="242A36"/>
          </a:solidFill>
          <a:ln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72600" y="16002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8800"/>
                </a:solidFill>
              </a:rPr>
              <a:t>20</a:t>
            </a:r>
          </a:p>
          <a:p>
            <a:pPr algn="ctr"/>
            <a:r>
              <a:rPr sz="1200">
                <a:solidFill>
                  <a:srgbClr val="BFC5CF"/>
                </a:solidFill>
              </a:rPr>
              <a:t>Samples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06040"/>
            <a:ext cx="1463040" cy="914400"/>
          </a:xfrm>
          <a:prstGeom prst="roundRect">
            <a:avLst/>
          </a:prstGeom>
          <a:solidFill>
            <a:srgbClr val="242A36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269748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8C9B0"/>
                </a:solidFill>
              </a:rPr>
              <a:t>10</a:t>
            </a:r>
          </a:p>
          <a:p>
            <a:pPr algn="ctr"/>
            <a:r>
              <a:rPr sz="1200">
                <a:solidFill>
                  <a:srgbClr val="BFC5CF"/>
                </a:solidFill>
              </a:rPr>
              <a:t>PASS samples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606040"/>
            <a:ext cx="1463040" cy="914400"/>
          </a:xfrm>
          <a:prstGeom prst="roundRect">
            <a:avLst/>
          </a:prstGeom>
          <a:solidFill>
            <a:srgbClr val="242A36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72600" y="269748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10</a:t>
            </a:r>
          </a:p>
          <a:p>
            <a:pPr algn="ctr"/>
            <a:r>
              <a:rPr sz="1200">
                <a:solidFill>
                  <a:srgbClr val="BFC5CF"/>
                </a:solidFill>
              </a:rPr>
              <a:t>FAIL samples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703320"/>
            <a:ext cx="1463040" cy="914400"/>
          </a:xfrm>
          <a:prstGeom prst="roundRect">
            <a:avLst/>
          </a:prstGeom>
          <a:solidFill>
            <a:srgbClr val="242A36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794759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8C9B0"/>
                </a:solidFill>
              </a:rPr>
              <a:t>100%</a:t>
            </a:r>
          </a:p>
          <a:p>
            <a:pPr algn="ctr"/>
            <a:r>
              <a:rPr sz="1200">
                <a:solidFill>
                  <a:srgbClr val="BFC5CF"/>
                </a:solidFill>
              </a:rP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703320"/>
            <a:ext cx="1463040" cy="914400"/>
          </a:xfrm>
          <a:prstGeom prst="roundRect">
            <a:avLst/>
          </a:prstGeom>
          <a:solidFill>
            <a:srgbClr val="242A36"/>
          </a:solidFill>
          <a:ln>
            <a:solidFill>
              <a:srgbClr val="56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3794759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69FFF"/>
                </a:solidFill>
              </a:rPr>
              <a:t>401</a:t>
            </a:r>
          </a:p>
          <a:p>
            <a:pPr algn="ctr"/>
            <a:r>
              <a:rPr sz="1200">
                <a:solidFill>
                  <a:srgbClr val="BFC5CF"/>
                </a:solidFill>
              </a:rPr>
              <a:t>Avg. inliers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89204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>
                <a:solidFill>
                  <a:srgbClr val="F5F7FA"/>
                </a:solidFill>
              </a:defRPr>
            </a:pPr>
            <a:r>
              <a:t>PASS and FAIL groups are clearly separated by defect area ratio.</a:t>
            </a:r>
          </a:p>
          <a:p>
            <a:pPr>
              <a:defRPr sz="1500">
                <a:solidFill>
                  <a:srgbClr val="F5F7FA"/>
                </a:solidFill>
              </a:defRPr>
            </a:pPr>
            <a:r>
              <a:t>The threshold is fixed, not tuned separately for each label.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4526280"/>
          </a:xfrm>
          <a:prstGeom prst="roundRect">
            <a:avLst/>
          </a:prstGeom>
          <a:solidFill>
            <a:srgbClr val="242A36"/>
          </a:solidFill>
          <a:ln>
            <a:solidFill>
              <a:srgbClr val="242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4800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>
                <a:solidFill>
                  <a:srgbClr val="F5F7FA"/>
                </a:solidFill>
              </a:defRPr>
            </a:pPr>
            <a:r>
              <a:t>Practical: packaging inspection is a real quality-control use case.</a:t>
            </a:r>
          </a:p>
          <a:p>
            <a:pPr>
              <a:defRPr sz="1700">
                <a:solidFill>
                  <a:srgbClr val="F5F7FA"/>
                </a:solidFill>
              </a:defRPr>
            </a:pPr>
            <a:r>
              <a:t>Diverse: one algorithm handles 5 different labels instead of one synthetic box.</a:t>
            </a:r>
          </a:p>
          <a:p>
            <a:pPr>
              <a:defRPr sz="1700">
                <a:solidFill>
                  <a:srgbClr val="F5F7FA"/>
                </a:solidFill>
              </a:defRPr>
            </a:pPr>
            <a:r>
              <a:t>Explainable: every decision is visible through matches, alignment, diff image, and mask.</a:t>
            </a:r>
          </a:p>
          <a:p>
            <a:pPr>
              <a:defRPr sz="1700">
                <a:solidFill>
                  <a:srgbClr val="F5F7FA"/>
                </a:solidFill>
              </a:defRPr>
            </a:pPr>
            <a:r>
              <a:t>Current limitation: defects are simulated on real labels, not collected from a factory line.</a:t>
            </a:r>
          </a:p>
          <a:p>
            <a:pPr>
              <a:defRPr sz="1700">
                <a:solidFill>
                  <a:srgbClr val="F5F7FA"/>
                </a:solidFill>
              </a:defRPr>
            </a:pPr>
            <a:r>
              <a:t>Next step: capture real phone or conveyor images and test lighting robustness.</a:t>
            </a:r>
          </a:p>
        </p:txBody>
      </p:sp>
      <p:pic>
        <p:nvPicPr>
          <p:cNvPr id="6" name="Picture 5" descr="pringles_original__fail_primary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5120640" cy="37187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77397" y="6108192"/>
            <a:ext cx="367600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>
                <a:solidFill>
                  <a:srgbClr val="BFC5CF"/>
                </a:solidFill>
              </a:rPr>
              <a:t>Online-source labels + explainable CV pipeline = strong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368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Awais</cp:lastModifiedBy>
  <cp:revision>4</cp:revision>
  <dcterms:created xsi:type="dcterms:W3CDTF">2013-01-27T09:14:16Z</dcterms:created>
  <dcterms:modified xsi:type="dcterms:W3CDTF">2026-04-21T11:36:58Z</dcterms:modified>
  <cp:category/>
</cp:coreProperties>
</file>